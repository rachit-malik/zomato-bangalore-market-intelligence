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9144000"/>
  <p:embeddedFontLst>
    <p:embeddedFont>
      <p:font typeface="Poppins"/>
      <p:regular r:id="rId16"/>
      <p:bold r:id="rId17"/>
      <p:italic r:id="rId18"/>
      <p:boldItalic r:id="rId19"/>
    </p:embeddedFont>
    <p:embeddedFont>
      <p:font typeface="Lato"/>
      <p:regular r:id="rId20"/>
      <p:bold r:id="rId21"/>
      <p:italic r:id="rId22"/>
      <p:boldItalic r:id="rId23"/>
    </p:embeddedFont>
    <p:embeddedFont>
      <p:font typeface="Lato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LatoLight-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Light-italic.fntdata"/><Relationship Id="rId25" Type="http://schemas.openxmlformats.org/officeDocument/2006/relationships/font" Target="fonts/LatoLight-bold.fntdata"/><Relationship Id="rId27" Type="http://schemas.openxmlformats.org/officeDocument/2006/relationships/font" Target="fonts/Lato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bold.fntdata"/><Relationship Id="rId16" Type="http://schemas.openxmlformats.org/officeDocument/2006/relationships/font" Target="fonts/Poppins-regular.fntdata"/><Relationship Id="rId19" Type="http://schemas.openxmlformats.org/officeDocument/2006/relationships/font" Target="fonts/Poppins-boldItalic.fntdata"/><Relationship Id="rId18" Type="http://schemas.openxmlformats.org/officeDocument/2006/relationships/font" Target="fonts/Poppi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23.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12.png"/><Relationship Id="rId8" Type="http://schemas.openxmlformats.org/officeDocument/2006/relationships/image" Target="../media/image2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595437" y="1941314"/>
            <a:ext cx="9001125" cy="134094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4800" u="none" cap="none" strike="noStrike">
                <a:solidFill>
                  <a:srgbClr val="FFFFFF"/>
                </a:solidFill>
                <a:latin typeface="Poppins"/>
                <a:ea typeface="Poppins"/>
                <a:cs typeface="Poppins"/>
                <a:sym typeface="Poppins"/>
              </a:rPr>
              <a:t>Decoding Restaurant Success in Bangalore</a:t>
            </a:r>
            <a:endParaRPr/>
          </a:p>
        </p:txBody>
      </p:sp>
      <p:sp>
        <p:nvSpPr>
          <p:cNvPr id="86" name="Google Shape;86;p13"/>
          <p:cNvSpPr txBox="1"/>
          <p:nvPr/>
        </p:nvSpPr>
        <p:spPr>
          <a:xfrm>
            <a:off x="1809750" y="3472755"/>
            <a:ext cx="8572500" cy="426690"/>
          </a:xfrm>
          <a:prstGeom prst="rect">
            <a:avLst/>
          </a:prstGeom>
          <a:noFill/>
          <a:ln>
            <a:noFill/>
          </a:ln>
        </p:spPr>
        <p:txBody>
          <a:bodyPr anchorCtr="0" anchor="t" bIns="0" lIns="0" spcFirstLastPara="1" rIns="0" wrap="square" tIns="0">
            <a:spAutoFit/>
          </a:bodyPr>
          <a:lstStyle/>
          <a:p>
            <a:pPr indent="0" lvl="0" marL="0" marR="0" rtl="0" algn="ctr">
              <a:lnSpc>
                <a:spcPct val="159952"/>
              </a:lnSpc>
              <a:spcBef>
                <a:spcPts val="0"/>
              </a:spcBef>
              <a:spcAft>
                <a:spcPts val="0"/>
              </a:spcAft>
              <a:buNone/>
            </a:pPr>
            <a:r>
              <a:rPr b="0" i="0" lang="en-US" sz="2100" u="none" cap="none" strike="noStrike">
                <a:solidFill>
                  <a:srgbClr val="9CA3AF"/>
                </a:solidFill>
                <a:latin typeface="Lato Light"/>
                <a:ea typeface="Lato Light"/>
                <a:cs typeface="Lato Light"/>
                <a:sym typeface="Lato Light"/>
              </a:rPr>
              <a:t>A Data-Driven Strategy for Market Entry using R &amp; Power BI</a:t>
            </a:r>
            <a:endParaRPr/>
          </a:p>
        </p:txBody>
      </p:sp>
      <p:sp>
        <p:nvSpPr>
          <p:cNvPr id="87" name="Google Shape;87;p13"/>
          <p:cNvSpPr txBox="1"/>
          <p:nvPr/>
        </p:nvSpPr>
        <p:spPr>
          <a:xfrm>
            <a:off x="1809750" y="4470945"/>
            <a:ext cx="85725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350" u="none" cap="none" strike="noStrike">
                <a:solidFill>
                  <a:srgbClr val="CB202D"/>
                </a:solidFill>
                <a:latin typeface="Lato"/>
                <a:ea typeface="Lato"/>
                <a:cs typeface="Lato"/>
                <a:sym typeface="Lato"/>
              </a:rPr>
              <a:t>RACHIT MALIK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571500" y="1638300"/>
            <a:ext cx="5334000" cy="4648200"/>
          </a:xfrm>
          <a:prstGeom prst="rect">
            <a:avLst/>
          </a:prstGeom>
          <a:noFill/>
          <a:ln>
            <a:noFill/>
          </a:ln>
        </p:spPr>
      </p:pic>
      <p:pic>
        <p:nvPicPr>
          <p:cNvPr descr="image.png" id="94" name="Google Shape;94;p14"/>
          <p:cNvPicPr preferRelativeResize="0"/>
          <p:nvPr/>
        </p:nvPicPr>
        <p:blipFill rotWithShape="1">
          <a:blip r:embed="rId5">
            <a:alphaModFix/>
          </a:blip>
          <a:srcRect b="0" l="0" r="0" t="0"/>
          <a:stretch/>
        </p:blipFill>
        <p:spPr>
          <a:xfrm>
            <a:off x="6286500" y="1638300"/>
            <a:ext cx="5334000" cy="4648200"/>
          </a:xfrm>
          <a:prstGeom prst="rect">
            <a:avLst/>
          </a:prstGeom>
          <a:noFill/>
          <a:ln>
            <a:noFill/>
          </a:ln>
        </p:spPr>
      </p:pic>
      <p:sp>
        <p:nvSpPr>
          <p:cNvPr id="95" name="Google Shape;95;p14"/>
          <p:cNvSpPr txBox="1"/>
          <p:nvPr/>
        </p:nvSpPr>
        <p:spPr>
          <a:xfrm>
            <a:off x="762000" y="571500"/>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The Business Context</a:t>
            </a:r>
            <a:endParaRPr/>
          </a:p>
        </p:txBody>
      </p:sp>
      <p:sp>
        <p:nvSpPr>
          <p:cNvPr id="96" name="Google Shape;96;p14"/>
          <p:cNvSpPr/>
          <p:nvPr/>
        </p:nvSpPr>
        <p:spPr>
          <a:xfrm>
            <a:off x="571500" y="571500"/>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962025" y="2028825"/>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CB202D"/>
                </a:solidFill>
                <a:latin typeface="Poppins"/>
                <a:ea typeface="Poppins"/>
                <a:cs typeface="Poppins"/>
                <a:sym typeface="Poppins"/>
              </a:rPr>
              <a:t>The Problem</a:t>
            </a:r>
            <a:endParaRPr/>
          </a:p>
        </p:txBody>
      </p:sp>
      <p:sp>
        <p:nvSpPr>
          <p:cNvPr id="98" name="Google Shape;98;p14"/>
          <p:cNvSpPr txBox="1"/>
          <p:nvPr/>
        </p:nvSpPr>
        <p:spPr>
          <a:xfrm>
            <a:off x="962025" y="2695575"/>
            <a:ext cx="4552950" cy="1675804"/>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Bangalore is the "Pub Capital of India," but the market is fiercely competitive. New restaurants face high turnover rates, and investors need to minimize risk by moving away from "gut feeling" decisions.</a:t>
            </a:r>
            <a:endParaRPr/>
          </a:p>
        </p:txBody>
      </p:sp>
      <p:sp>
        <p:nvSpPr>
          <p:cNvPr id="99" name="Google Shape;99;p14"/>
          <p:cNvSpPr txBox="1"/>
          <p:nvPr/>
        </p:nvSpPr>
        <p:spPr>
          <a:xfrm>
            <a:off x="6677025" y="2028825"/>
            <a:ext cx="4780597"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CB202D"/>
                </a:solidFill>
                <a:latin typeface="Poppins"/>
                <a:ea typeface="Poppins"/>
                <a:cs typeface="Poppins"/>
                <a:sym typeface="Poppins"/>
              </a:rPr>
              <a:t>The Goal</a:t>
            </a:r>
            <a:endParaRPr/>
          </a:p>
        </p:txBody>
      </p:sp>
      <p:sp>
        <p:nvSpPr>
          <p:cNvPr id="100" name="Google Shape;100;p14"/>
          <p:cNvSpPr txBox="1"/>
          <p:nvPr/>
        </p:nvSpPr>
        <p:spPr>
          <a:xfrm>
            <a:off x="6677025" y="2695575"/>
            <a:ext cx="455295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To audit the Zomato dataset and identify the optimal </a:t>
            </a:r>
            <a:r>
              <a:rPr b="1" i="0" lang="en-US" sz="1650" u="none" cap="none" strike="noStrike">
                <a:solidFill>
                  <a:srgbClr val="CB202D"/>
                </a:solidFill>
                <a:latin typeface="Lato"/>
                <a:ea typeface="Lato"/>
                <a:cs typeface="Lato"/>
                <a:sym typeface="Lato"/>
              </a:rPr>
              <a:t>Location</a:t>
            </a:r>
            <a:r>
              <a:rPr b="0" i="0" lang="en-US" sz="1650" u="none" cap="none" strike="noStrike">
                <a:solidFill>
                  <a:srgbClr val="D1D5DB"/>
                </a:solidFill>
                <a:latin typeface="Lato"/>
                <a:ea typeface="Lato"/>
                <a:cs typeface="Lato"/>
                <a:sym typeface="Lato"/>
              </a:rPr>
              <a:t>, </a:t>
            </a:r>
            <a:r>
              <a:rPr b="1" i="0" lang="en-US" sz="1650" u="none" cap="none" strike="noStrike">
                <a:solidFill>
                  <a:srgbClr val="CB202D"/>
                </a:solidFill>
                <a:latin typeface="Lato"/>
                <a:ea typeface="Lato"/>
                <a:cs typeface="Lato"/>
                <a:sym typeface="Lato"/>
              </a:rPr>
              <a:t>Format</a:t>
            </a:r>
            <a:r>
              <a:rPr b="0" i="0" lang="en-US" sz="1650" u="none" cap="none" strike="noStrike">
                <a:solidFill>
                  <a:srgbClr val="D1D5DB"/>
                </a:solidFill>
                <a:latin typeface="Lato"/>
                <a:ea typeface="Lato"/>
                <a:cs typeface="Lato"/>
                <a:sym typeface="Lato"/>
              </a:rPr>
              <a:t>, and </a:t>
            </a:r>
            <a:r>
              <a:rPr b="1" i="0" lang="en-US" sz="1650" u="none" cap="none" strike="noStrike">
                <a:solidFill>
                  <a:srgbClr val="CB202D"/>
                </a:solidFill>
                <a:latin typeface="Lato"/>
                <a:ea typeface="Lato"/>
                <a:cs typeface="Lato"/>
                <a:sym typeface="Lato"/>
              </a:rPr>
              <a:t>Menu Strategy</a:t>
            </a:r>
            <a:r>
              <a:rPr b="0" i="0" lang="en-US" sz="1650" u="none" cap="none" strike="noStrike">
                <a:solidFill>
                  <a:srgbClr val="D1D5DB"/>
                </a:solidFill>
                <a:latin typeface="Lato"/>
                <a:ea typeface="Lato"/>
                <a:cs typeface="Lato"/>
                <a:sym typeface="Lato"/>
              </a:rPr>
              <a:t> that maximizes the probability of success and ROI.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04" name="Shape 104"/>
        <p:cNvGrpSpPr/>
        <p:nvPr/>
      </p:nvGrpSpPr>
      <p:grpSpPr>
        <a:xfrm>
          <a:off x="0" y="0"/>
          <a:ext cx="0" cy="0"/>
          <a:chOff x="0" y="0"/>
          <a:chExt cx="0" cy="0"/>
        </a:xfrm>
      </p:grpSpPr>
      <p:pic>
        <p:nvPicPr>
          <p:cNvPr descr="image.png" id="105" name="Google Shape;105;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6" name="Google Shape;106;p15"/>
          <p:cNvPicPr preferRelativeResize="0"/>
          <p:nvPr/>
        </p:nvPicPr>
        <p:blipFill rotWithShape="1">
          <a:blip r:embed="rId4">
            <a:alphaModFix/>
          </a:blip>
          <a:srcRect b="0" l="0" r="0" t="0"/>
          <a:stretch/>
        </p:blipFill>
        <p:spPr>
          <a:xfrm>
            <a:off x="571500" y="1638300"/>
            <a:ext cx="3492549" cy="4648200"/>
          </a:xfrm>
          <a:prstGeom prst="rect">
            <a:avLst/>
          </a:prstGeom>
          <a:noFill/>
          <a:ln>
            <a:noFill/>
          </a:ln>
        </p:spPr>
      </p:pic>
      <p:pic>
        <p:nvPicPr>
          <p:cNvPr descr="image.png" id="107" name="Google Shape;107;p15"/>
          <p:cNvPicPr preferRelativeResize="0"/>
          <p:nvPr/>
        </p:nvPicPr>
        <p:blipFill rotWithShape="1">
          <a:blip r:embed="rId5">
            <a:alphaModFix/>
          </a:blip>
          <a:srcRect b="0" l="0" r="0" t="0"/>
          <a:stretch/>
        </p:blipFill>
        <p:spPr>
          <a:xfrm>
            <a:off x="4349799" y="1638300"/>
            <a:ext cx="3492549" cy="4648200"/>
          </a:xfrm>
          <a:prstGeom prst="rect">
            <a:avLst/>
          </a:prstGeom>
          <a:noFill/>
          <a:ln>
            <a:noFill/>
          </a:ln>
        </p:spPr>
      </p:pic>
      <p:pic>
        <p:nvPicPr>
          <p:cNvPr descr="image.png" id="108" name="Google Shape;108;p15"/>
          <p:cNvPicPr preferRelativeResize="0"/>
          <p:nvPr/>
        </p:nvPicPr>
        <p:blipFill rotWithShape="1">
          <a:blip r:embed="rId6">
            <a:alphaModFix/>
          </a:blip>
          <a:srcRect b="0" l="0" r="0" t="0"/>
          <a:stretch/>
        </p:blipFill>
        <p:spPr>
          <a:xfrm>
            <a:off x="8128099" y="1638300"/>
            <a:ext cx="3492549" cy="4648200"/>
          </a:xfrm>
          <a:prstGeom prst="rect">
            <a:avLst/>
          </a:prstGeom>
          <a:noFill/>
          <a:ln>
            <a:noFill/>
          </a:ln>
        </p:spPr>
      </p:pic>
      <p:sp>
        <p:nvSpPr>
          <p:cNvPr id="109" name="Google Shape;109;p15"/>
          <p:cNvSpPr txBox="1"/>
          <p:nvPr/>
        </p:nvSpPr>
        <p:spPr>
          <a:xfrm>
            <a:off x="762000" y="571500"/>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Methodology &amp; Tech Stack</a:t>
            </a:r>
            <a:endParaRPr/>
          </a:p>
        </p:txBody>
      </p:sp>
      <p:sp>
        <p:nvSpPr>
          <p:cNvPr id="110" name="Google Shape;110;p15"/>
          <p:cNvSpPr/>
          <p:nvPr/>
        </p:nvSpPr>
        <p:spPr>
          <a:xfrm>
            <a:off x="571500" y="571500"/>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5"/>
          <p:cNvSpPr txBox="1"/>
          <p:nvPr/>
        </p:nvSpPr>
        <p:spPr>
          <a:xfrm>
            <a:off x="794225" y="2809875"/>
            <a:ext cx="3047099"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Poppins"/>
                <a:ea typeface="Poppins"/>
                <a:cs typeface="Poppins"/>
                <a:sym typeface="Poppins"/>
              </a:rPr>
              <a:t>R Programming</a:t>
            </a:r>
            <a:endParaRPr/>
          </a:p>
        </p:txBody>
      </p:sp>
      <p:sp>
        <p:nvSpPr>
          <p:cNvPr id="112" name="Google Shape;112;p15"/>
          <p:cNvSpPr txBox="1"/>
          <p:nvPr/>
        </p:nvSpPr>
        <p:spPr>
          <a:xfrm>
            <a:off x="866775" y="3457575"/>
            <a:ext cx="2901999"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D1D5DB"/>
                </a:solidFill>
                <a:latin typeface="Lato"/>
                <a:ea typeface="Lato"/>
                <a:cs typeface="Lato"/>
                <a:sym typeface="Lato"/>
              </a:rPr>
              <a:t>Used for rigorous data cleaning, handling messy string values, and performing statistical analysis to find correlations.</a:t>
            </a:r>
            <a:endParaRPr/>
          </a:p>
        </p:txBody>
      </p:sp>
      <p:sp>
        <p:nvSpPr>
          <p:cNvPr id="113" name="Google Shape;113;p15"/>
          <p:cNvSpPr txBox="1"/>
          <p:nvPr/>
        </p:nvSpPr>
        <p:spPr>
          <a:xfrm>
            <a:off x="4572524" y="2809875"/>
            <a:ext cx="3047099"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Poppins"/>
                <a:ea typeface="Poppins"/>
                <a:cs typeface="Poppins"/>
                <a:sym typeface="Poppins"/>
              </a:rPr>
              <a:t>Power BI</a:t>
            </a:r>
            <a:endParaRPr/>
          </a:p>
        </p:txBody>
      </p:sp>
      <p:sp>
        <p:nvSpPr>
          <p:cNvPr id="114" name="Google Shape;114;p15"/>
          <p:cNvSpPr txBox="1"/>
          <p:nvPr/>
        </p:nvSpPr>
        <p:spPr>
          <a:xfrm>
            <a:off x="4645074" y="3457575"/>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D1D5DB"/>
                </a:solidFill>
                <a:latin typeface="Lato"/>
                <a:ea typeface="Lato"/>
                <a:cs typeface="Lato"/>
                <a:sym typeface="Lato"/>
              </a:rPr>
              <a:t>Utilized for building interactive dashboards that allow stakeholders to drill down into location-specific data.</a:t>
            </a:r>
            <a:endParaRPr/>
          </a:p>
        </p:txBody>
      </p:sp>
      <p:sp>
        <p:nvSpPr>
          <p:cNvPr id="115" name="Google Shape;115;p15"/>
          <p:cNvSpPr txBox="1"/>
          <p:nvPr/>
        </p:nvSpPr>
        <p:spPr>
          <a:xfrm>
            <a:off x="8350824" y="2809875"/>
            <a:ext cx="3047099" cy="3333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Poppins"/>
                <a:ea typeface="Poppins"/>
                <a:cs typeface="Poppins"/>
                <a:sym typeface="Poppins"/>
              </a:rPr>
              <a:t>Data Integrity</a:t>
            </a:r>
            <a:endParaRPr/>
          </a:p>
        </p:txBody>
      </p:sp>
      <p:sp>
        <p:nvSpPr>
          <p:cNvPr id="116" name="Google Shape;116;p15"/>
          <p:cNvSpPr txBox="1"/>
          <p:nvPr/>
        </p:nvSpPr>
        <p:spPr>
          <a:xfrm>
            <a:off x="8423374" y="3457575"/>
            <a:ext cx="2901999"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D1D5DB"/>
                </a:solidFill>
                <a:latin typeface="Lato"/>
                <a:ea typeface="Lato"/>
                <a:cs typeface="Lato"/>
                <a:sym typeface="Lato"/>
              </a:rPr>
              <a:t>Audited ~50,000 records. Standardized ratings, cleaned cost data, and created binary flags for operations.</a:t>
            </a:r>
            <a:endParaRPr/>
          </a:p>
        </p:txBody>
      </p:sp>
      <p:pic>
        <p:nvPicPr>
          <p:cNvPr descr="image.png" id="117" name="Google Shape;117;p15"/>
          <p:cNvPicPr preferRelativeResize="0"/>
          <p:nvPr/>
        </p:nvPicPr>
        <p:blipFill rotWithShape="1">
          <a:blip r:embed="rId7">
            <a:alphaModFix/>
          </a:blip>
          <a:srcRect b="0" l="0" r="0" t="0"/>
          <a:stretch/>
        </p:blipFill>
        <p:spPr>
          <a:xfrm>
            <a:off x="2060525" y="2076450"/>
            <a:ext cx="514350" cy="457200"/>
          </a:xfrm>
          <a:prstGeom prst="rect">
            <a:avLst/>
          </a:prstGeom>
          <a:noFill/>
          <a:ln>
            <a:noFill/>
          </a:ln>
        </p:spPr>
      </p:pic>
      <p:pic>
        <p:nvPicPr>
          <p:cNvPr descr="image.png" id="118" name="Google Shape;118;p15"/>
          <p:cNvPicPr preferRelativeResize="0"/>
          <p:nvPr/>
        </p:nvPicPr>
        <p:blipFill rotWithShape="1">
          <a:blip r:embed="rId8">
            <a:alphaModFix/>
          </a:blip>
          <a:srcRect b="0" l="0" r="0" t="0"/>
          <a:stretch/>
        </p:blipFill>
        <p:spPr>
          <a:xfrm>
            <a:off x="5895975" y="2076450"/>
            <a:ext cx="400050" cy="457200"/>
          </a:xfrm>
          <a:prstGeom prst="rect">
            <a:avLst/>
          </a:prstGeom>
          <a:noFill/>
          <a:ln>
            <a:noFill/>
          </a:ln>
        </p:spPr>
      </p:pic>
      <p:pic>
        <p:nvPicPr>
          <p:cNvPr descr="image.png" id="119" name="Google Shape;119;p15"/>
          <p:cNvPicPr preferRelativeResize="0"/>
          <p:nvPr/>
        </p:nvPicPr>
        <p:blipFill rotWithShape="1">
          <a:blip r:embed="rId9">
            <a:alphaModFix/>
          </a:blip>
          <a:srcRect b="0" l="0" r="0" t="0"/>
          <a:stretch/>
        </p:blipFill>
        <p:spPr>
          <a:xfrm>
            <a:off x="9674274" y="2076450"/>
            <a:ext cx="400050" cy="45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23" name="Shape 123"/>
        <p:cNvGrpSpPr/>
        <p:nvPr/>
      </p:nvGrpSpPr>
      <p:grpSpPr>
        <a:xfrm>
          <a:off x="0" y="0"/>
          <a:ext cx="0" cy="0"/>
          <a:chOff x="0" y="0"/>
          <a:chExt cx="0" cy="0"/>
        </a:xfrm>
      </p:grpSpPr>
      <p:pic>
        <p:nvPicPr>
          <p:cNvPr descr="image.png" id="124" name="Google Shape;124;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5" name="Google Shape;125;p16"/>
          <p:cNvSpPr txBox="1"/>
          <p:nvPr/>
        </p:nvSpPr>
        <p:spPr>
          <a:xfrm>
            <a:off x="952500" y="762000"/>
            <a:ext cx="460057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Market Strategy</a:t>
            </a:r>
            <a:endParaRPr/>
          </a:p>
        </p:txBody>
      </p:sp>
      <p:sp>
        <p:nvSpPr>
          <p:cNvPr id="126" name="Google Shape;126;p16"/>
          <p:cNvSpPr/>
          <p:nvPr/>
        </p:nvSpPr>
        <p:spPr>
          <a:xfrm>
            <a:off x="762000" y="762000"/>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6"/>
          <p:cNvSpPr txBox="1"/>
          <p:nvPr/>
        </p:nvSpPr>
        <p:spPr>
          <a:xfrm>
            <a:off x="762000" y="2232124"/>
            <a:ext cx="48006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FFFFFF"/>
                </a:solidFill>
                <a:latin typeface="Poppins"/>
                <a:ea typeface="Poppins"/>
                <a:cs typeface="Poppins"/>
                <a:sym typeface="Poppins"/>
              </a:rPr>
              <a:t>Where to Play?</a:t>
            </a:r>
            <a:endParaRPr/>
          </a:p>
        </p:txBody>
      </p:sp>
      <p:sp>
        <p:nvSpPr>
          <p:cNvPr id="128" name="Google Shape;128;p16"/>
          <p:cNvSpPr txBox="1"/>
          <p:nvPr/>
        </p:nvSpPr>
        <p:spPr>
          <a:xfrm>
            <a:off x="762000" y="2717899"/>
            <a:ext cx="457200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The "Strategy Matrix" reveals a crucial insight: </a:t>
            </a:r>
            <a:r>
              <a:rPr b="1" i="0" lang="en-US" sz="1650" u="none" cap="none" strike="noStrike">
                <a:solidFill>
                  <a:srgbClr val="CB202D"/>
                </a:solidFill>
                <a:latin typeface="Lato"/>
                <a:ea typeface="Lato"/>
                <a:cs typeface="Lato"/>
                <a:sym typeface="Lato"/>
              </a:rPr>
              <a:t>Pubs &amp; Bars</a:t>
            </a:r>
            <a:r>
              <a:rPr b="0" i="0" lang="en-US" sz="1650" u="none" cap="none" strike="noStrike">
                <a:solidFill>
                  <a:srgbClr val="D1D5DB"/>
                </a:solidFill>
                <a:latin typeface="Lato"/>
                <a:ea typeface="Lato"/>
                <a:cs typeface="Lato"/>
                <a:sym typeface="Lato"/>
              </a:rPr>
              <a:t> occupy the 'High Value' quadrant.</a:t>
            </a:r>
            <a:endParaRPr/>
          </a:p>
        </p:txBody>
      </p:sp>
      <p:sp>
        <p:nvSpPr>
          <p:cNvPr id="129" name="Google Shape;129;p16"/>
          <p:cNvSpPr txBox="1"/>
          <p:nvPr/>
        </p:nvSpPr>
        <p:spPr>
          <a:xfrm>
            <a:off x="762000" y="3807321"/>
            <a:ext cx="4572000" cy="1675804"/>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While delivery kitchens have lower costs, they suffer from lower average ratings (3.7). In contrast, Pubs command higher prices (₹1,500+) and consistently achieve ratings &gt;4.2, proving customers pay for experience.</a:t>
            </a:r>
            <a:endParaRPr/>
          </a:p>
        </p:txBody>
      </p:sp>
      <p:pic>
        <p:nvPicPr>
          <p:cNvPr id="130" name="Google Shape;130;p16"/>
          <p:cNvPicPr preferRelativeResize="0"/>
          <p:nvPr/>
        </p:nvPicPr>
        <p:blipFill rotWithShape="1">
          <a:blip r:embed="rId4">
            <a:alphaModFix/>
          </a:blip>
          <a:srcRect b="0" l="19940" r="27736" t="0"/>
          <a:stretch/>
        </p:blipFill>
        <p:spPr>
          <a:xfrm>
            <a:off x="6532445" y="0"/>
            <a:ext cx="5659555" cy="6781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34" name="Shape 134"/>
        <p:cNvGrpSpPr/>
        <p:nvPr/>
      </p:nvGrpSpPr>
      <p:grpSpPr>
        <a:xfrm>
          <a:off x="0" y="0"/>
          <a:ext cx="0" cy="0"/>
          <a:chOff x="0" y="0"/>
          <a:chExt cx="0" cy="0"/>
        </a:xfrm>
      </p:grpSpPr>
      <p:pic>
        <p:nvPicPr>
          <p:cNvPr descr="image.png" id="135" name="Google Shape;135;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6" name="Google Shape;136;p17"/>
          <p:cNvPicPr preferRelativeResize="0"/>
          <p:nvPr/>
        </p:nvPicPr>
        <p:blipFill rotWithShape="1">
          <a:blip r:embed="rId4">
            <a:alphaModFix/>
          </a:blip>
          <a:srcRect b="0" l="0" r="0" t="0"/>
          <a:stretch/>
        </p:blipFill>
        <p:spPr>
          <a:xfrm>
            <a:off x="571500" y="1638300"/>
            <a:ext cx="11049000" cy="4648200"/>
          </a:xfrm>
          <a:prstGeom prst="rect">
            <a:avLst/>
          </a:prstGeom>
          <a:noFill/>
          <a:ln>
            <a:noFill/>
          </a:ln>
        </p:spPr>
      </p:pic>
      <p:sp>
        <p:nvSpPr>
          <p:cNvPr id="137" name="Google Shape;137;p17"/>
          <p:cNvSpPr txBox="1"/>
          <p:nvPr/>
        </p:nvSpPr>
        <p:spPr>
          <a:xfrm>
            <a:off x="762000" y="571500"/>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The Operational Scale Gap</a:t>
            </a:r>
            <a:endParaRPr/>
          </a:p>
        </p:txBody>
      </p:sp>
      <p:sp>
        <p:nvSpPr>
          <p:cNvPr id="138" name="Google Shape;138;p17"/>
          <p:cNvSpPr/>
          <p:nvPr/>
        </p:nvSpPr>
        <p:spPr>
          <a:xfrm>
            <a:off x="571500" y="571500"/>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7"/>
          <p:cNvSpPr txBox="1"/>
          <p:nvPr/>
        </p:nvSpPr>
        <p:spPr>
          <a:xfrm>
            <a:off x="571500" y="2795587"/>
            <a:ext cx="1104900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Top Tier restaurants don't just charge more; they have vastly higher engagement.</a:t>
            </a:r>
            <a:endParaRPr/>
          </a:p>
        </p:txBody>
      </p:sp>
      <p:sp>
        <p:nvSpPr>
          <p:cNvPr id="140" name="Google Shape;140;p17"/>
          <p:cNvSpPr txBox="1"/>
          <p:nvPr/>
        </p:nvSpPr>
        <p:spPr>
          <a:xfrm>
            <a:off x="571500" y="4892873"/>
            <a:ext cx="110490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1" lang="en-US" sz="1350" u="none" cap="none" strike="noStrike">
                <a:solidFill>
                  <a:srgbClr val="999999"/>
                </a:solidFill>
                <a:latin typeface="Lato"/>
                <a:ea typeface="Lato"/>
                <a:cs typeface="Lato"/>
                <a:sym typeface="Lato"/>
              </a:rPr>
              <a:t>Metric: Average Votes per Restaurant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44" name="Shape 144"/>
        <p:cNvGrpSpPr/>
        <p:nvPr/>
      </p:nvGrpSpPr>
      <p:grpSpPr>
        <a:xfrm>
          <a:off x="0" y="0"/>
          <a:ext cx="0" cy="0"/>
          <a:chOff x="0" y="0"/>
          <a:chExt cx="0" cy="0"/>
        </a:xfrm>
      </p:grpSpPr>
      <p:pic>
        <p:nvPicPr>
          <p:cNvPr descr="image.png" id="145" name="Google Shape;14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6" name="Google Shape;146;p18"/>
          <p:cNvPicPr preferRelativeResize="0"/>
          <p:nvPr/>
        </p:nvPicPr>
        <p:blipFill rotWithShape="1">
          <a:blip r:embed="rId4">
            <a:alphaModFix/>
          </a:blip>
          <a:srcRect b="0" l="0" r="0" t="0"/>
          <a:stretch/>
        </p:blipFill>
        <p:spPr>
          <a:xfrm>
            <a:off x="571500" y="1522214"/>
            <a:ext cx="11049000" cy="4880371"/>
          </a:xfrm>
          <a:prstGeom prst="rect">
            <a:avLst/>
          </a:prstGeom>
          <a:noFill/>
          <a:ln>
            <a:noFill/>
          </a:ln>
        </p:spPr>
      </p:pic>
      <p:sp>
        <p:nvSpPr>
          <p:cNvPr id="147" name="Google Shape;147;p18"/>
          <p:cNvSpPr txBox="1"/>
          <p:nvPr/>
        </p:nvSpPr>
        <p:spPr>
          <a:xfrm>
            <a:off x="762000" y="455414"/>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Tech Stack: The Reservation Advantage</a:t>
            </a:r>
            <a:endParaRPr/>
          </a:p>
        </p:txBody>
      </p:sp>
      <p:sp>
        <p:nvSpPr>
          <p:cNvPr id="148" name="Google Shape;148;p18"/>
          <p:cNvSpPr/>
          <p:nvPr/>
        </p:nvSpPr>
        <p:spPr>
          <a:xfrm>
            <a:off x="571500" y="455414"/>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8"/>
          <p:cNvSpPr txBox="1"/>
          <p:nvPr/>
        </p:nvSpPr>
        <p:spPr>
          <a:xfrm>
            <a:off x="2286000" y="5522714"/>
            <a:ext cx="7620000" cy="67032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1" i="0" lang="en-US" sz="1650" u="none" cap="none" strike="noStrike">
                <a:solidFill>
                  <a:srgbClr val="CB202D"/>
                </a:solidFill>
                <a:latin typeface="Lato"/>
                <a:ea typeface="Lato"/>
                <a:cs typeface="Lato"/>
                <a:sym typeface="Lato"/>
              </a:rPr>
              <a:t>Insight:</a:t>
            </a:r>
            <a:r>
              <a:rPr b="0" i="0" lang="en-US" sz="1650" u="none" cap="none" strike="noStrike">
                <a:solidFill>
                  <a:srgbClr val="D1D5DB"/>
                </a:solidFill>
                <a:latin typeface="Lato"/>
                <a:ea typeface="Lato"/>
                <a:cs typeface="Lato"/>
                <a:sym typeface="Lato"/>
              </a:rPr>
              <a:t> Premium success is driven by reservations. Top tier restaurants prioritize infrastructure for booking over just delivery logistics.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53" name="Shape 153"/>
        <p:cNvGrpSpPr/>
        <p:nvPr/>
      </p:nvGrpSpPr>
      <p:grpSpPr>
        <a:xfrm>
          <a:off x="0" y="0"/>
          <a:ext cx="0" cy="0"/>
          <a:chOff x="0" y="0"/>
          <a:chExt cx="0" cy="0"/>
        </a:xfrm>
      </p:grpSpPr>
      <p:pic>
        <p:nvPicPr>
          <p:cNvPr descr="image.png" id="154" name="Google Shape;154;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5" name="Google Shape;155;p19"/>
          <p:cNvPicPr preferRelativeResize="0"/>
          <p:nvPr/>
        </p:nvPicPr>
        <p:blipFill rotWithShape="1">
          <a:blip r:embed="rId4">
            <a:alphaModFix/>
          </a:blip>
          <a:srcRect b="0" l="0" r="0" t="0"/>
          <a:stretch/>
        </p:blipFill>
        <p:spPr>
          <a:xfrm>
            <a:off x="762000" y="1450700"/>
            <a:ext cx="11049000" cy="4648200"/>
          </a:xfrm>
          <a:prstGeom prst="rect">
            <a:avLst/>
          </a:prstGeom>
          <a:noFill/>
          <a:ln>
            <a:noFill/>
          </a:ln>
        </p:spPr>
      </p:pic>
      <p:sp>
        <p:nvSpPr>
          <p:cNvPr id="156" name="Google Shape;156;p19"/>
          <p:cNvSpPr txBox="1"/>
          <p:nvPr/>
        </p:nvSpPr>
        <p:spPr>
          <a:xfrm>
            <a:off x="762000" y="571500"/>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Menu Intelligence: Market Saturation</a:t>
            </a:r>
            <a:endParaRPr/>
          </a:p>
        </p:txBody>
      </p:sp>
      <p:sp>
        <p:nvSpPr>
          <p:cNvPr id="157" name="Google Shape;157;p19"/>
          <p:cNvSpPr/>
          <p:nvPr/>
        </p:nvSpPr>
        <p:spPr>
          <a:xfrm>
            <a:off x="571500" y="571500"/>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8" name="Google Shape;158;p19"/>
          <p:cNvSpPr txBox="1"/>
          <p:nvPr/>
        </p:nvSpPr>
        <p:spPr>
          <a:xfrm>
            <a:off x="571500" y="5142607"/>
            <a:ext cx="11049000"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Entering the North Indian or Chinese segment requires exceptional differentiation due to overcrowding.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62" name="Shape 162"/>
        <p:cNvGrpSpPr/>
        <p:nvPr/>
      </p:nvGrpSpPr>
      <p:grpSpPr>
        <a:xfrm>
          <a:off x="0" y="0"/>
          <a:ext cx="0" cy="0"/>
          <a:chOff x="0" y="0"/>
          <a:chExt cx="0" cy="0"/>
        </a:xfrm>
      </p:grpSpPr>
      <p:pic>
        <p:nvPicPr>
          <p:cNvPr descr="image.png" id="163" name="Google Shape;163;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4" name="Google Shape;164;p20"/>
          <p:cNvPicPr preferRelativeResize="0"/>
          <p:nvPr/>
        </p:nvPicPr>
        <p:blipFill rotWithShape="1">
          <a:blip r:embed="rId4">
            <a:alphaModFix/>
          </a:blip>
          <a:srcRect b="0" l="0" r="0" t="0"/>
          <a:stretch/>
        </p:blipFill>
        <p:spPr>
          <a:xfrm>
            <a:off x="6286500" y="1586358"/>
            <a:ext cx="5334000" cy="3810000"/>
          </a:xfrm>
          <a:prstGeom prst="rect">
            <a:avLst/>
          </a:prstGeom>
          <a:noFill/>
          <a:ln>
            <a:noFill/>
          </a:ln>
        </p:spPr>
      </p:pic>
      <p:sp>
        <p:nvSpPr>
          <p:cNvPr id="165" name="Google Shape;165;p20"/>
          <p:cNvSpPr txBox="1"/>
          <p:nvPr/>
        </p:nvSpPr>
        <p:spPr>
          <a:xfrm>
            <a:off x="762000" y="519558"/>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Menu Strategy: Anchor Dishes</a:t>
            </a:r>
            <a:endParaRPr/>
          </a:p>
        </p:txBody>
      </p:sp>
      <p:sp>
        <p:nvSpPr>
          <p:cNvPr id="166" name="Google Shape;166;p20"/>
          <p:cNvSpPr/>
          <p:nvPr/>
        </p:nvSpPr>
        <p:spPr>
          <a:xfrm>
            <a:off x="571500" y="519558"/>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7" name="Google Shape;167;p20"/>
          <p:cNvSpPr txBox="1"/>
          <p:nvPr/>
        </p:nvSpPr>
        <p:spPr>
          <a:xfrm>
            <a:off x="571500" y="1586358"/>
            <a:ext cx="560070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4" u="none" cap="none" strike="noStrike">
                <a:solidFill>
                  <a:srgbClr val="FFFFFF"/>
                </a:solidFill>
                <a:latin typeface="Poppins"/>
                <a:ea typeface="Poppins"/>
                <a:cs typeface="Poppins"/>
                <a:sym typeface="Poppins"/>
              </a:rPr>
              <a:t>The "Safe Bets"</a:t>
            </a:r>
            <a:endParaRPr/>
          </a:p>
        </p:txBody>
      </p:sp>
      <p:sp>
        <p:nvSpPr>
          <p:cNvPr id="168" name="Google Shape;168;p20"/>
          <p:cNvSpPr txBox="1"/>
          <p:nvPr/>
        </p:nvSpPr>
        <p:spPr>
          <a:xfrm>
            <a:off x="571500" y="2072133"/>
            <a:ext cx="5334000" cy="1005482"/>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Analysis of 4.0+ rated reviews identified these non-negotiable volume drivers. They serve as the entry point for new customers.</a:t>
            </a:r>
            <a:endParaRPr/>
          </a:p>
        </p:txBody>
      </p:sp>
      <p:sp>
        <p:nvSpPr>
          <p:cNvPr id="169" name="Google Shape;169;p20"/>
          <p:cNvSpPr txBox="1"/>
          <p:nvPr/>
        </p:nvSpPr>
        <p:spPr>
          <a:xfrm>
            <a:off x="952500" y="3287166"/>
            <a:ext cx="49530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Biryani</a:t>
            </a:r>
            <a:r>
              <a:rPr b="0" i="0" lang="en-US" sz="1800" u="none" cap="none" strike="noStrike">
                <a:solidFill>
                  <a:srgbClr val="D1D5DB"/>
                </a:solidFill>
                <a:latin typeface="Lato"/>
                <a:ea typeface="Lato"/>
                <a:cs typeface="Lato"/>
                <a:sym typeface="Lato"/>
              </a:rPr>
              <a:t>: The universal favorite and highest volume driver.</a:t>
            </a:r>
            <a:endParaRPr/>
          </a:p>
        </p:txBody>
      </p:sp>
      <p:sp>
        <p:nvSpPr>
          <p:cNvPr id="170" name="Google Shape;170;p20"/>
          <p:cNvSpPr txBox="1"/>
          <p:nvPr/>
        </p:nvSpPr>
        <p:spPr>
          <a:xfrm>
            <a:off x="952500" y="4304258"/>
            <a:ext cx="49530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Butter Chicken</a:t>
            </a:r>
            <a:r>
              <a:rPr b="0" i="0" lang="en-US" sz="1800" u="none" cap="none" strike="noStrike">
                <a:solidFill>
                  <a:srgbClr val="D1D5DB"/>
                </a:solidFill>
                <a:latin typeface="Lato"/>
                <a:ea typeface="Lato"/>
                <a:cs typeface="Lato"/>
                <a:sym typeface="Lato"/>
              </a:rPr>
              <a:t>: The essential North Indian anchor.</a:t>
            </a:r>
            <a:endParaRPr/>
          </a:p>
        </p:txBody>
      </p:sp>
      <p:sp>
        <p:nvSpPr>
          <p:cNvPr id="171" name="Google Shape;171;p20"/>
          <p:cNvSpPr txBox="1"/>
          <p:nvPr/>
        </p:nvSpPr>
        <p:spPr>
          <a:xfrm>
            <a:off x="952500" y="5321349"/>
            <a:ext cx="49530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Pasta &amp; Pizza</a:t>
            </a:r>
            <a:r>
              <a:rPr b="0" i="0" lang="en-US" sz="1800" u="none" cap="none" strike="noStrike">
                <a:solidFill>
                  <a:srgbClr val="D1D5DB"/>
                </a:solidFill>
                <a:latin typeface="Lato"/>
                <a:ea typeface="Lato"/>
                <a:cs typeface="Lato"/>
                <a:sym typeface="Lato"/>
              </a:rPr>
              <a:t>: Critical for the casual dining segment.</a:t>
            </a:r>
            <a:endParaRPr/>
          </a:p>
        </p:txBody>
      </p:sp>
      <p:pic>
        <p:nvPicPr>
          <p:cNvPr descr="image.png" id="172" name="Google Shape;172;p20"/>
          <p:cNvPicPr preferRelativeResize="0"/>
          <p:nvPr/>
        </p:nvPicPr>
        <p:blipFill rotWithShape="1">
          <a:blip r:embed="rId5">
            <a:alphaModFix/>
          </a:blip>
          <a:srcRect b="0" l="0" r="0" t="0"/>
          <a:stretch/>
        </p:blipFill>
        <p:spPr>
          <a:xfrm>
            <a:off x="571500" y="3325266"/>
            <a:ext cx="228600" cy="247650"/>
          </a:xfrm>
          <a:prstGeom prst="rect">
            <a:avLst/>
          </a:prstGeom>
          <a:noFill/>
          <a:ln>
            <a:noFill/>
          </a:ln>
        </p:spPr>
      </p:pic>
      <p:pic>
        <p:nvPicPr>
          <p:cNvPr descr="image.png" id="173" name="Google Shape;173;p20"/>
          <p:cNvPicPr preferRelativeResize="0"/>
          <p:nvPr/>
        </p:nvPicPr>
        <p:blipFill rotWithShape="1">
          <a:blip r:embed="rId6">
            <a:alphaModFix/>
          </a:blip>
          <a:srcRect b="0" l="0" r="0" t="0"/>
          <a:stretch/>
        </p:blipFill>
        <p:spPr>
          <a:xfrm>
            <a:off x="571500" y="4342358"/>
            <a:ext cx="200025" cy="247650"/>
          </a:xfrm>
          <a:prstGeom prst="rect">
            <a:avLst/>
          </a:prstGeom>
          <a:noFill/>
          <a:ln>
            <a:noFill/>
          </a:ln>
        </p:spPr>
      </p:pic>
      <p:pic>
        <p:nvPicPr>
          <p:cNvPr descr="image.png" id="174" name="Google Shape;174;p20"/>
          <p:cNvPicPr preferRelativeResize="0"/>
          <p:nvPr/>
        </p:nvPicPr>
        <p:blipFill rotWithShape="1">
          <a:blip r:embed="rId7">
            <a:alphaModFix/>
          </a:blip>
          <a:srcRect b="0" l="0" r="0" t="0"/>
          <a:stretch/>
        </p:blipFill>
        <p:spPr>
          <a:xfrm>
            <a:off x="571500" y="5359449"/>
            <a:ext cx="228600" cy="247650"/>
          </a:xfrm>
          <a:prstGeom prst="rect">
            <a:avLst/>
          </a:prstGeom>
          <a:noFill/>
          <a:ln>
            <a:noFill/>
          </a:ln>
        </p:spPr>
      </p:pic>
      <p:pic>
        <p:nvPicPr>
          <p:cNvPr descr="biryani, butter chicken pasta an pizza on a marble table presented looking soo tasty" id="175" name="Google Shape;175;p20"/>
          <p:cNvPicPr preferRelativeResize="0"/>
          <p:nvPr/>
        </p:nvPicPr>
        <p:blipFill>
          <a:blip r:embed="rId8">
            <a:alphaModFix/>
          </a:blip>
          <a:stretch>
            <a:fillRect/>
          </a:stretch>
        </p:blipFill>
        <p:spPr>
          <a:xfrm>
            <a:off x="6286500" y="1205350"/>
            <a:ext cx="5333999" cy="5023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79" name="Shape 179"/>
        <p:cNvGrpSpPr/>
        <p:nvPr/>
      </p:nvGrpSpPr>
      <p:grpSpPr>
        <a:xfrm>
          <a:off x="0" y="0"/>
          <a:ext cx="0" cy="0"/>
          <a:chOff x="0" y="0"/>
          <a:chExt cx="0" cy="0"/>
        </a:xfrm>
      </p:grpSpPr>
      <p:pic>
        <p:nvPicPr>
          <p:cNvPr descr="image.png" id="180" name="Google Shape;180;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1" name="Google Shape;181;p21"/>
          <p:cNvSpPr txBox="1"/>
          <p:nvPr/>
        </p:nvSpPr>
        <p:spPr>
          <a:xfrm>
            <a:off x="762000" y="571500"/>
            <a:ext cx="11401425" cy="685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FFFFF"/>
                </a:solidFill>
                <a:latin typeface="Poppins"/>
                <a:ea typeface="Poppins"/>
                <a:cs typeface="Poppins"/>
                <a:sym typeface="Poppins"/>
              </a:rPr>
              <a:t>Strategic Recommendations</a:t>
            </a:r>
            <a:endParaRPr/>
          </a:p>
        </p:txBody>
      </p:sp>
      <p:sp>
        <p:nvSpPr>
          <p:cNvPr id="182" name="Google Shape;182;p21"/>
          <p:cNvSpPr/>
          <p:nvPr/>
        </p:nvSpPr>
        <p:spPr>
          <a:xfrm>
            <a:off x="571500" y="571500"/>
            <a:ext cx="57150" cy="685800"/>
          </a:xfrm>
          <a:prstGeom prst="rect">
            <a:avLst/>
          </a:prstGeom>
          <a:solidFill>
            <a:srgbClr val="CB202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21"/>
          <p:cNvSpPr txBox="1"/>
          <p:nvPr/>
        </p:nvSpPr>
        <p:spPr>
          <a:xfrm>
            <a:off x="952500" y="2004417"/>
            <a:ext cx="81915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Format Strategy</a:t>
            </a:r>
            <a:r>
              <a:rPr b="0" i="0" lang="en-US" sz="1800" u="none" cap="none" strike="noStrike">
                <a:solidFill>
                  <a:srgbClr val="D1D5DB"/>
                </a:solidFill>
                <a:latin typeface="Lato"/>
                <a:ea typeface="Lato"/>
                <a:cs typeface="Lato"/>
                <a:sym typeface="Lato"/>
              </a:rPr>
              <a:t>: Launch a Casual Dining or Pub format. The data proves customers are willing to pay premiums for the 'Experience Economy'.</a:t>
            </a:r>
            <a:endParaRPr/>
          </a:p>
        </p:txBody>
      </p:sp>
      <p:sp>
        <p:nvSpPr>
          <p:cNvPr id="184" name="Google Shape;184;p21"/>
          <p:cNvSpPr txBox="1"/>
          <p:nvPr/>
        </p:nvSpPr>
        <p:spPr>
          <a:xfrm>
            <a:off x="952500" y="3021508"/>
            <a:ext cx="81915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Tech Investment</a:t>
            </a:r>
            <a:r>
              <a:rPr b="0" i="0" lang="en-US" sz="1800" u="none" cap="none" strike="noStrike">
                <a:solidFill>
                  <a:srgbClr val="D1D5DB"/>
                </a:solidFill>
                <a:latin typeface="Lato"/>
                <a:ea typeface="Lato"/>
                <a:cs typeface="Lato"/>
                <a:sym typeface="Lato"/>
              </a:rPr>
              <a:t>: Invest in Reservation Management Systems immediately. Do not rely solely on aggregators like Zomato/Swiggy.</a:t>
            </a:r>
            <a:endParaRPr/>
          </a:p>
        </p:txBody>
      </p:sp>
      <p:sp>
        <p:nvSpPr>
          <p:cNvPr id="185" name="Google Shape;185;p21"/>
          <p:cNvSpPr txBox="1"/>
          <p:nvPr/>
        </p:nvSpPr>
        <p:spPr>
          <a:xfrm>
            <a:off x="952500" y="4038600"/>
            <a:ext cx="81915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Location</a:t>
            </a:r>
            <a:r>
              <a:rPr b="0" i="0" lang="en-US" sz="1800" u="none" cap="none" strike="noStrike">
                <a:solidFill>
                  <a:srgbClr val="D1D5DB"/>
                </a:solidFill>
                <a:latin typeface="Lato"/>
                <a:ea typeface="Lato"/>
                <a:cs typeface="Lato"/>
                <a:sym typeface="Lato"/>
              </a:rPr>
              <a:t>: Target high-volume zones (Koramangala/Indiranagar) but prioritize areas with 'Quality Gaps' (High demand, low avg rating).</a:t>
            </a:r>
            <a:endParaRPr/>
          </a:p>
        </p:txBody>
      </p:sp>
      <p:sp>
        <p:nvSpPr>
          <p:cNvPr id="186" name="Google Shape;186;p21"/>
          <p:cNvSpPr txBox="1"/>
          <p:nvPr/>
        </p:nvSpPr>
        <p:spPr>
          <a:xfrm>
            <a:off x="952500" y="5055691"/>
            <a:ext cx="8191500" cy="731341"/>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b="1" i="0" lang="en-US" sz="1800" u="none" cap="none" strike="noStrike">
                <a:solidFill>
                  <a:srgbClr val="CB202D"/>
                </a:solidFill>
                <a:latin typeface="Lato"/>
                <a:ea typeface="Lato"/>
                <a:cs typeface="Lato"/>
                <a:sym typeface="Lato"/>
              </a:rPr>
              <a:t>Menu Mix</a:t>
            </a:r>
            <a:r>
              <a:rPr b="0" i="0" lang="en-US" sz="1800" u="none" cap="none" strike="noStrike">
                <a:solidFill>
                  <a:srgbClr val="D1D5DB"/>
                </a:solidFill>
                <a:latin typeface="Lato"/>
                <a:ea typeface="Lato"/>
                <a:cs typeface="Lato"/>
                <a:sym typeface="Lato"/>
              </a:rPr>
              <a:t>: Include the "Safe Bet" anchors for volume, but differentiate with niche cuisines to avoid the saturation trap.</a:t>
            </a:r>
            <a:endParaRPr/>
          </a:p>
        </p:txBody>
      </p:sp>
      <p:pic>
        <p:nvPicPr>
          <p:cNvPr descr="image.png" id="187" name="Google Shape;187;p21"/>
          <p:cNvPicPr preferRelativeResize="0"/>
          <p:nvPr/>
        </p:nvPicPr>
        <p:blipFill rotWithShape="1">
          <a:blip r:embed="rId4">
            <a:alphaModFix/>
          </a:blip>
          <a:srcRect b="0" l="0" r="0" t="0"/>
          <a:stretch/>
        </p:blipFill>
        <p:spPr>
          <a:xfrm>
            <a:off x="571500" y="2042517"/>
            <a:ext cx="285750" cy="247650"/>
          </a:xfrm>
          <a:prstGeom prst="rect">
            <a:avLst/>
          </a:prstGeom>
          <a:noFill/>
          <a:ln>
            <a:noFill/>
          </a:ln>
        </p:spPr>
      </p:pic>
      <p:pic>
        <p:nvPicPr>
          <p:cNvPr descr="image.png" id="188" name="Google Shape;188;p21"/>
          <p:cNvPicPr preferRelativeResize="0"/>
          <p:nvPr/>
        </p:nvPicPr>
        <p:blipFill rotWithShape="1">
          <a:blip r:embed="rId5">
            <a:alphaModFix/>
          </a:blip>
          <a:srcRect b="0" l="0" r="0" t="0"/>
          <a:stretch/>
        </p:blipFill>
        <p:spPr>
          <a:xfrm>
            <a:off x="571500" y="3059608"/>
            <a:ext cx="200025" cy="247650"/>
          </a:xfrm>
          <a:prstGeom prst="rect">
            <a:avLst/>
          </a:prstGeom>
          <a:noFill/>
          <a:ln>
            <a:noFill/>
          </a:ln>
        </p:spPr>
      </p:pic>
      <p:pic>
        <p:nvPicPr>
          <p:cNvPr descr="image.png" id="189" name="Google Shape;189;p21"/>
          <p:cNvPicPr preferRelativeResize="0"/>
          <p:nvPr/>
        </p:nvPicPr>
        <p:blipFill rotWithShape="1">
          <a:blip r:embed="rId6">
            <a:alphaModFix/>
          </a:blip>
          <a:srcRect b="0" l="0" r="0" t="0"/>
          <a:stretch/>
        </p:blipFill>
        <p:spPr>
          <a:xfrm>
            <a:off x="571500" y="4076700"/>
            <a:ext cx="257175" cy="247650"/>
          </a:xfrm>
          <a:prstGeom prst="rect">
            <a:avLst/>
          </a:prstGeom>
          <a:noFill/>
          <a:ln>
            <a:noFill/>
          </a:ln>
        </p:spPr>
      </p:pic>
      <p:pic>
        <p:nvPicPr>
          <p:cNvPr descr="image.png" id="190" name="Google Shape;190;p21"/>
          <p:cNvPicPr preferRelativeResize="0"/>
          <p:nvPr/>
        </p:nvPicPr>
        <p:blipFill rotWithShape="1">
          <a:blip r:embed="rId7">
            <a:alphaModFix/>
          </a:blip>
          <a:srcRect b="0" l="0" r="0" t="0"/>
          <a:stretch/>
        </p:blipFill>
        <p:spPr>
          <a:xfrm>
            <a:off x="571500" y="5093791"/>
            <a:ext cx="171450" cy="247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94" name="Shape 194"/>
        <p:cNvGrpSpPr/>
        <p:nvPr/>
      </p:nvGrpSpPr>
      <p:grpSpPr>
        <a:xfrm>
          <a:off x="0" y="0"/>
          <a:ext cx="0" cy="0"/>
          <a:chOff x="0" y="0"/>
          <a:chExt cx="0" cy="0"/>
        </a:xfrm>
      </p:grpSpPr>
      <p:pic>
        <p:nvPicPr>
          <p:cNvPr descr="image.png" id="195" name="Google Shape;195;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6" name="Google Shape;196;p22"/>
          <p:cNvSpPr txBox="1"/>
          <p:nvPr/>
        </p:nvSpPr>
        <p:spPr>
          <a:xfrm>
            <a:off x="3920728" y="2208014"/>
            <a:ext cx="4350543" cy="114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CB202D"/>
                </a:solidFill>
                <a:latin typeface="Poppins"/>
                <a:ea typeface="Poppins"/>
                <a:cs typeface="Poppins"/>
                <a:sym typeface="Poppins"/>
              </a:rPr>
              <a:t>Thank You</a:t>
            </a:r>
            <a:endParaRPr/>
          </a:p>
        </p:txBody>
      </p:sp>
      <p:sp>
        <p:nvSpPr>
          <p:cNvPr id="197" name="Google Shape;197;p22"/>
          <p:cNvSpPr txBox="1"/>
          <p:nvPr/>
        </p:nvSpPr>
        <p:spPr>
          <a:xfrm>
            <a:off x="4024312" y="3560564"/>
            <a:ext cx="4143375" cy="335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FFFFFF"/>
                </a:solidFill>
                <a:latin typeface="Lato"/>
                <a:ea typeface="Lato"/>
                <a:cs typeface="Lato"/>
                <a:sym typeface="Lato"/>
              </a:rPr>
              <a:t>Questions &amp; Discussion</a:t>
            </a:r>
            <a:endParaRPr/>
          </a:p>
        </p:txBody>
      </p:sp>
      <p:sp>
        <p:nvSpPr>
          <p:cNvPr id="198" name="Google Shape;198;p22"/>
          <p:cNvSpPr txBox="1"/>
          <p:nvPr/>
        </p:nvSpPr>
        <p:spPr>
          <a:xfrm>
            <a:off x="4024312" y="4105275"/>
            <a:ext cx="4143300" cy="2541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650" u="none" cap="none" strike="noStrike">
                <a:solidFill>
                  <a:srgbClr val="D1D5DB"/>
                </a:solidFill>
                <a:latin typeface="Lato"/>
                <a:ea typeface="Lato"/>
                <a:cs typeface="Lato"/>
                <a:sym typeface="Lato"/>
              </a:rPr>
              <a:t>Rachit Malik | Data </a:t>
            </a:r>
            <a:r>
              <a:rPr lang="en-US" sz="1650">
                <a:solidFill>
                  <a:srgbClr val="D1D5DB"/>
                </a:solidFill>
                <a:latin typeface="Lato"/>
                <a:ea typeface="Lato"/>
                <a:cs typeface="Lato"/>
                <a:sym typeface="Lato"/>
              </a:rPr>
              <a:t>/ Business </a:t>
            </a:r>
            <a:r>
              <a:rPr b="0" i="0" lang="en-US" sz="1650" u="none" cap="none" strike="noStrike">
                <a:solidFill>
                  <a:srgbClr val="D1D5DB"/>
                </a:solidFill>
                <a:latin typeface="Lato"/>
                <a:ea typeface="Lato"/>
                <a:cs typeface="Lato"/>
                <a:sym typeface="Lato"/>
              </a:rPr>
              <a:t>Analytics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